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맑은 고딕"/>
              </a:defRPr>
            </a:pPr>
            <a:r>
              <a:t>K-MER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DFF"/>
                </a:solidFill>
                <a:latin typeface="맑은 고딕"/>
              </a:defRPr>
            </a:pPr>
            <a:r>
              <a:t>Korean Multimodal Emotion Recognition</a:t>
            </a:r>
            <a:br/>
            <a:r>
              <a:t>for Real-Time Driver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39319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BBCC"/>
                </a:solidFill>
                <a:latin typeface="맑은 고딕"/>
              </a:defRPr>
            </a:pPr>
            <a:r>
              <a:t>Technical Architecture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맑은 고딕"/>
              </a:defRPr>
            </a:pPr>
            <a:r>
              <a:t>안준영  |  지도교수: 문연국  |  산업부 국책과제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846320"/>
            <a:ext cx="2103120" cy="822960"/>
          </a:xfrm>
          <a:prstGeom prst="roundRect">
            <a:avLst/>
          </a:prstGeom>
          <a:solidFill>
            <a:srgbClr val="234E74"/>
          </a:solidFill>
          <a:ln w="127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 Modalities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Vision + Audio + Bio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846320"/>
            <a:ext cx="2103120" cy="822960"/>
          </a:xfrm>
          <a:prstGeom prst="roundRect">
            <a:avLst/>
          </a:prstGeom>
          <a:solidFill>
            <a:srgbClr val="234E74"/>
          </a:solidFill>
          <a:ln w="127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~144K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Lightweight 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846320"/>
            <a:ext cx="2103120" cy="822960"/>
          </a:xfrm>
          <a:prstGeom prst="roundRect">
            <a:avLst/>
          </a:prstGeom>
          <a:solidFill>
            <a:srgbClr val="234E74"/>
          </a:solidFill>
          <a:ln w="127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98.0%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10 Recognition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4846320"/>
            <a:ext cx="2103120" cy="822960"/>
          </a:xfrm>
          <a:prstGeom prst="roundRect">
            <a:avLst/>
          </a:prstGeom>
          <a:solidFill>
            <a:srgbClr val="234E74"/>
          </a:solidFill>
          <a:ln w="127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8-Byte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Vehicle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1. System 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Top-down: 전체 시스템을 한 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2/11</a:t>
            </a:r>
          </a:p>
        </p:txBody>
      </p:sp>
      <p:pic>
        <p:nvPicPr>
          <p:cNvPr id="6" name="Picture 5" descr="fig_e2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2. K-FER Expert — Internal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MobileViTv2 Backbone + AU RoI Cross-Attention + Gated 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3/11</a:t>
            </a:r>
          </a:p>
        </p:txBody>
      </p:sp>
      <p:pic>
        <p:nvPicPr>
          <p:cNvPr id="6" name="Picture 5" descr="fig_kf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303520" cy="5669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0" y="1097280"/>
            <a:ext cx="5943600" cy="2286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152144"/>
            <a:ext cx="5724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맑은 고딕"/>
              </a:defRPr>
            </a:pPr>
            <a:r>
              <a:t>Core Innovation: Single-Forward AU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41732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C62828"/>
                </a:solidFill>
                <a:latin typeface="맑은 고딕"/>
              </a:defRPr>
            </a:pPr>
            <a:r>
              <a:t>기존 방식 (POSTER++, DAtt-Net 등):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각 AU 영역마다 별도 backbone forward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8 AU regions x backbone = 큰 연산량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7AE60"/>
                </a:solidFill>
                <a:latin typeface="맑은 고딕"/>
              </a:defRPr>
            </a:pPr>
            <a:r>
              <a:t>K-FER 방식: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1회 backbone forward -&gt; feature map [B, 384, 7, 7]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F.grid_sample(bilinear) 로 AU 영역 직접 추출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  연산량 8배 절감, 동일 성능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566160"/>
            <a:ext cx="5943600" cy="155448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3621024"/>
            <a:ext cx="5724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F17"/>
                </a:solidFill>
                <a:latin typeface="맑은 고딕"/>
              </a:defRPr>
            </a:pPr>
            <a:r>
              <a:t>Gated Residual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8862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57F17"/>
                </a:solidFill>
                <a:latin typeface="맑은 고딕"/>
              </a:defRPr>
            </a:pPr>
            <a:r>
              <a:t>gate = sigmoid(W . [global; au_attn])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output = Q + gate * cross_attn_out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Per-dimension learnable gate (384d), init=0.0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-&gt; 학습 초기: gate~0 (global 유지)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-&gt; 학습 후: AU 정보 점진적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5303520"/>
            <a:ext cx="594360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5358384"/>
            <a:ext cx="5724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맑은 고딕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6235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Dataset: AI Hub 한국인 감정인식 (413K/52K)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Single-frame: 79.7% (Macro F1: 0.7953)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+ Temporal (W=7): 98.8% (6-class)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3. Cross-Attention Fusion Layer —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Pre-Norm Architecture: Cross-Attention -&gt; Self-Attention -&gt; FFN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4/11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011680" cy="18288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맑은 고딕"/>
              </a:defRPr>
            </a:pPr>
            <a:r>
              <a:t>Input Tokens</a:t>
            </a:r>
            <a:br/>
            <a:r>
              <a:t>[B, 10, 384]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CLS + Global + 8 AU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1965960"/>
            <a:ext cx="365760" cy="1828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79" y="1188720"/>
            <a:ext cx="2011680" cy="18288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Cross-Attention</a:t>
            </a:r>
            <a:br/>
            <a:r>
              <a:t>(Q: CLS,Global | KV: AUs)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8 heads, d_k=48</a:t>
            </a:r>
            <a:br/>
            <a:r>
              <a:t>+ Gated Residual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63440" y="1965960"/>
            <a:ext cx="365760" cy="1828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188720"/>
            <a:ext cx="201168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Self-Attention</a:t>
            </a:r>
            <a:br/>
            <a:r>
              <a:t>(All 10 tokens)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8 heads, d=384</a:t>
            </a:r>
            <a:br/>
            <a:r>
              <a:t>+ Standard Residual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95159" y="1965960"/>
            <a:ext cx="365760" cy="1828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19" y="1188720"/>
            <a:ext cx="2011680" cy="18288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맑은 고딕"/>
              </a:defRPr>
            </a:pPr>
            <a:r>
              <a:t>FFN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LN -&gt; Linear(384-&gt;1536)</a:t>
            </a:r>
            <a:br/>
            <a:r>
              <a:t>-&gt; GELU -&gt; Linear(1536-&gt;384)</a:t>
            </a:r>
            <a:br/>
            <a:r>
              <a:t>+ Residual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26880" y="1965960"/>
            <a:ext cx="365760" cy="1828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1188720"/>
            <a:ext cx="2011680" cy="182880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24AA"/>
                </a:solidFill>
                <a:latin typeface="맑은 고딕"/>
              </a:defRPr>
            </a:pPr>
            <a:r>
              <a:t>CLS Token</a:t>
            </a:r>
            <a:br/>
            <a:r>
              <a:t>[B, 384]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-&gt; FER Head</a:t>
            </a:r>
            <a:br/>
            <a:r>
              <a:t>-&gt; 7-class logits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91840"/>
            <a:ext cx="5486400" cy="320040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346704"/>
            <a:ext cx="5266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F17"/>
                </a:solidFill>
                <a:latin typeface="맑은 고딕"/>
              </a:defRPr>
            </a:pPr>
            <a:r>
              <a:t>Gated Residual Mechanism (Key Innovation)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1188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565C0"/>
                </a:solidFill>
                <a:latin typeface="맑은 고딕"/>
              </a:defRPr>
            </a:pPr>
            <a:r>
              <a:t>Cross-first, Self-second 설계: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C3E50"/>
                </a:solidFill>
                <a:latin typeface="맑은 고딕"/>
              </a:defRPr>
            </a:pPr>
            <a:r>
              <a:t>1) Cross-Attention: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Q = [CLS, Global] (2 tokens)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K, V = [AU1, AU2, ..., AU8] (8 tokens)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7AE60"/>
                </a:solidFill>
                <a:latin typeface="맑은 고딕"/>
              </a:defRPr>
            </a:pPr>
            <a:r>
              <a:t>   -&gt; CLS/Global이 AU 지역 정보를 선택적 수집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C3E50"/>
                </a:solidFill>
                <a:latin typeface="맑은 고딕"/>
              </a:defRPr>
            </a:pPr>
            <a:r>
              <a:t>2) Gated Residual: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gate = sigmoid(W_gate)  (384d, init=0.0)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-&gt; init=0.0 이므로 sigmoid(0)=0.5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-&gt; 학습 진행하면서 차원별 최적 gate 학습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7AE60"/>
                </a:solidFill>
                <a:latin typeface="맑은 고딕"/>
              </a:defRPr>
            </a:pPr>
            <a:r>
              <a:t>   -&gt; global과 local AU 정보 자동 균형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C3E50"/>
                </a:solidFill>
                <a:latin typeface="맑은 고딕"/>
              </a:defRPr>
            </a:pPr>
            <a:r>
              <a:t>3) Self-Attention: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모든 10개 토큰 간 전역 정보 교환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Standard residual (gate 없음)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291840"/>
            <a:ext cx="5486400" cy="32004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346704"/>
            <a:ext cx="5266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24AA"/>
                </a:solidFill>
                <a:latin typeface="맑은 고딕"/>
              </a:defRPr>
            </a:pPr>
            <a:r>
              <a:t>Classification Head &amp;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61188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8E24AA"/>
                </a:solidFill>
                <a:latin typeface="맑은 고딕"/>
              </a:defRPr>
            </a:pPr>
            <a:r>
              <a:t>FER Head: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CLS token [B, 384]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LayerNorm(384)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Linear(384, 384) + GELU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Dropout(0.2)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Linear(384, 7)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7-class logits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1565C0"/>
                </a:solidFill>
                <a:latin typeface="맑은 고딕"/>
              </a:defRPr>
            </a:pPr>
            <a:r>
              <a:t>Output (per frame):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7-class emotion probs (softmax)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FACS 6d (AU activation scores)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EAR (Eye Aspect Ratio)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PERCLOS (눈감은 시간 비율)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1565C0"/>
                </a:solidFill>
                <a:latin typeface="맑은 고딕"/>
              </a:defRPr>
            </a:pPr>
            <a:r>
              <a:t>Training: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Focal Loss (gamma=2) + Label Smoothing (0.1)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AdamW, lr=3e-4, CosineAnnealing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4. Audio Expert &amp; Bio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Frozen Feature Extractors: emotion2vec + neurokit2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5/11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5669280" cy="27432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52144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맑은 고딕"/>
              </a:defRPr>
            </a:pPr>
            <a:r>
              <a:t>Audio Expert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980B9"/>
                </a:solidFill>
                <a:latin typeface="맑은 고딕"/>
              </a:defRPr>
            </a:pPr>
            <a:r>
              <a:t>emotion2vec (ACL 2024, FunASR):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Waveform 16kHz -&gt; 1024d embedding -&gt; 9-class probs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Angry, Disgusted, Fearful, Happy, Neutral,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Other, Sad, Surprised, Unknown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980B9"/>
                </a:solidFill>
                <a:latin typeface="맑은 고딕"/>
              </a:defRPr>
            </a:pPr>
            <a:r>
              <a:t>audeering wav2vec2: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wav2vec2 (1024d) -&gt; Dense(1024,1024) + Tanh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Linear(1024, 3): Arousal / Valence / Dominance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980B9"/>
                </a:solidFill>
                <a:latin typeface="맑은 고딕"/>
              </a:defRPr>
            </a:pPr>
            <a:r>
              <a:t>Audio Quality Gate (3d):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RMS energy, Voicing ratio, SNR estimation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62828"/>
                </a:solidFill>
                <a:latin typeface="맑은 고딕"/>
              </a:defRPr>
            </a:pPr>
            <a:r>
              <a:t>  품질 미달 시 validity mask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66928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52144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맑은 고딕"/>
              </a:defRPr>
            </a:pPr>
            <a:r>
              <a:t>Bio Expert Pipeline (neurokit2)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7AE60"/>
                </a:solidFill>
                <a:latin typeface="맑은 고딕"/>
              </a:defRPr>
            </a:pPr>
            <a:r>
              <a:t>BVP -&gt; HRV Features (4d):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ppg_clean -&gt; ppg_findpeaks -&gt; IBI analysis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mean_hr, sdnn, rmssd, lf_hf_ratio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7AE60"/>
                </a:solidFill>
                <a:latin typeface="맑은 고딕"/>
              </a:defRPr>
            </a:pPr>
            <a:r>
              <a:t>EDA -&gt; SCR Features (5d):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mean_scl, std_scl, n_peaks, mean_amp, auc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  교감신경 활성화 -&gt; 스트레스 지표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7AE60"/>
                </a:solidFill>
                <a:latin typeface="맑은 고딕"/>
              </a:defRPr>
            </a:pPr>
            <a:r>
              <a:t>HR/Temperature Features (6d):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mean, std, range, slope 등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0 learnable params (hand-crafted features)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023360"/>
            <a:ext cx="11612880" cy="256032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078224"/>
            <a:ext cx="11393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맑은 고딕"/>
              </a:defRPr>
            </a:pPr>
            <a:r>
              <a:t>Expert 설계 원리 (Design Rationale)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43400"/>
            <a:ext cx="11338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565C0"/>
                </a:solidFill>
                <a:latin typeface="맑은 고딕"/>
              </a:defRPr>
            </a:pPr>
            <a:r>
              <a:t>Frozen Expert 전략:  사전학습 모델 고정 + 경량 projection만 학습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  1. 데이터 효율성: K-EMocon (소규모) 데이터로도 안정적 학습 가능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  2. 도메인 지식 보존: emotion2vec(ACL2024), neurokit2(생리학) 등 전문 지식 유지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  3. 연산 효율: Expert 출력 캐싱 가능 -&gt; Fusion만 반복 학습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  4. 모듈성: 새 센서/모델 추가 시 token만 추가하면 됨 (plug-and-play)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총 Expert 출력: Face 12d + Audio 15d + Bio 18d + Aux 11d + Meta 3d = 59d -&gt; 15 tokens x 64d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5. K-MER Fusion — Internal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15 Tokens x 64d -&gt; Pool-FFN (Intra-modal) -&gt; MHSA (Cross-modal) -&gt; Output Heads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6/11</a:t>
            </a:r>
          </a:p>
        </p:txBody>
      </p:sp>
      <p:pic>
        <p:nvPicPr>
          <p:cNvPr id="6" name="Picture 5" descr="fig_kmer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887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6. K-MER Fusion — Technical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Pool-FFN, MHSA, Validity Masking, Detached Drowsy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7/11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749039" cy="27432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52144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맑은 고딕"/>
              </a:defRPr>
            </a:pPr>
            <a:r>
              <a:t>Pool-FFN (EfficientFormer-style)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같은 모달리티 토큰끼리 정보 집약: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AvgPool1d(kernel=k, stride=1, pad=k//2)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인접 토큰 평균으로 local 패턴 포착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2C3E50"/>
                </a:solidFill>
                <a:latin typeface="맑은 고딕"/>
              </a:defRPr>
            </a:pPr>
            <a:r>
              <a:t>  Residual: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    LayerNorm(64)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    Linear(64 -&gt; 128) + GELU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    Linear(128 -&gt; 64)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    + Skip connection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Face k=3, Audio k=3, Bio k=4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749039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152144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맑은 고딕"/>
              </a:defRPr>
            </a:pPr>
            <a:r>
              <a:t>Global MHSA (Cross-modal)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17320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7AE60"/>
                </a:solidFill>
                <a:latin typeface="맑은 고딕"/>
              </a:defRPr>
            </a:pPr>
            <a:r>
              <a:t>모든 15개 토큰 간 cross-modal attention: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2C3E50"/>
                </a:solidFill>
                <a:latin typeface="맑은 고딕"/>
              </a:defRPr>
            </a:pPr>
            <a:r>
              <a:t>  Multi-Head Self-Attention: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 4 heads, d_k = 64/4 = 16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 Pre-Norm (LayerNorm before attention)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 + Standard Residual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2C3E50"/>
                </a:solidFill>
                <a:latin typeface="맑은 고딕"/>
              </a:defRPr>
            </a:pPr>
            <a:r>
              <a:t>  FFN: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 LayerNorm -&gt; Linear(64-&gt;128)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 -&gt; GELU -&gt; Dropout(0.1)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 -&gt; Linear(128-&gt;64) -&gt; Residual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749039" cy="27432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152144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2828"/>
                </a:solidFill>
                <a:latin typeface="맑은 고딕"/>
              </a:defRPr>
            </a:pPr>
            <a:r>
              <a:t>Key Technical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C62828"/>
                </a:solidFill>
                <a:latin typeface="맑은 고딕"/>
              </a:defRPr>
            </a:pPr>
            <a:r>
              <a:t>Validity Masking: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key_padding_mask로 MHSA에 적용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센서 미연결/품질미달 -&gt; 해당 토큰 masking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결측 데이터에도 robust한 추론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C62828"/>
                </a:solidFill>
                <a:latin typeface="맑은 고딕"/>
              </a:defRPr>
            </a:pPr>
            <a:r>
              <a:t>Detached Drowsy Head: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input = concat([fused.detach(), perclos])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.detach() -&gt; gradient 차단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감정 loss가 졸음 판별에 간섭 방지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7AE60"/>
                </a:solidFill>
                <a:latin typeface="맑은 고딕"/>
              </a:defRPr>
            </a:pPr>
            <a:r>
              <a:t>  -&gt; Multi-task 학습 안정화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23360"/>
            <a:ext cx="5669280" cy="25603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078224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24AA"/>
                </a:solidFill>
                <a:latin typeface="맑은 고딕"/>
              </a:defRPr>
            </a:pPr>
            <a:r>
              <a:t>Output Heads (3 Tasks)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4340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Arousal Head: Linear(64-&gt;32) + ReLU + Dropout(0.1) + Linear(32-&gt;1) + Sigmoid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-&gt; arousal in [0, 1]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Valence Head: Linear(64-&gt;32) + ReLU + Dropout(0.1) + Linear(32-&gt;1) + Sigmoid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-&gt; valence in [0, 1]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Drowsy Head: Linear(66-&gt;32) + ReLU + Dropout(0.1) + Linear(32-&gt;3)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Input: [fused_repr(64d, detached) + perclos_ear(2d)] = 66d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-&gt; 3-class logits: alert / drowsy / sleeping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486400" cy="25603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4078224"/>
            <a:ext cx="5266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맑은 고딕"/>
              </a:defRPr>
            </a:pPr>
            <a:r>
              <a:t>Training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434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565C0"/>
                </a:solidFill>
                <a:latin typeface="맑은 고딕"/>
              </a:defRPr>
            </a:pPr>
            <a:r>
              <a:t>Uncertainty-Weighted MTL (Kendall, CVPR 2018):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L = SUM (1/2*s_t^2) * L_t + log(s_t)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  s_t: learnable log-variance per task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-&gt; task weight 자동 학습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565C0"/>
                </a:solidFill>
                <a:latin typeface="맑은 고딕"/>
              </a:defRPr>
            </a:pPr>
            <a:r>
              <a:t>Dataset: K-EMocon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32명 참가자 다자간 대화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6-fold GroupKFold CV (subject-wise)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Pair-aware grouping (대화 파트너 분리)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7AE60"/>
                </a:solidFill>
                <a:latin typeface="맑은 고딕"/>
              </a:defRPr>
            </a:pPr>
            <a:r>
              <a:t>Total params: ~144K (teacher) / ~12K (student)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7. Post-Processing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Temporal Smoothing + Compound Emotion + Status Flags + Protocol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8/11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749039" cy="53035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52144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24AA"/>
                </a:solidFill>
                <a:latin typeface="맑은 고딕"/>
              </a:defRPr>
            </a:pPr>
            <a:r>
              <a:t>StableEmotionDetector (4-Strategy)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47471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8E24AA"/>
                </a:solidFill>
                <a:latin typeface="맑은 고딕"/>
              </a:defRPr>
            </a:pPr>
            <a:r>
              <a:t>1) 7-frame Majority Vote: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최근 7프레임 투표 -&gt; 최빈 감정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감정 그룹별 차등 threshold: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   Sustained (neutral, happy, sad): 높은 기준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   Transient (angry, anxious...): 낮은 기준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8E24AA"/>
                </a:solidFill>
                <a:latin typeface="맑은 고딕"/>
              </a:defRPr>
            </a:pPr>
            <a:r>
              <a:t>2) Confidence Threshold (0.5):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softmax prob &lt; 0.5 -&gt; 이전 감정 유지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3프레임 연속 미달 -&gt; alert OFF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8E24AA"/>
                </a:solidFill>
                <a:latin typeface="맑은 고딕"/>
              </a:defRPr>
            </a:pPr>
            <a:r>
              <a:t>3) EMA Smoothing (alpha=0.3):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new = 0.3*raw + 0.7*prev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EMA 최대 감정 = vote 최대 감정 검증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8E24AA"/>
                </a:solidFill>
                <a:latin typeface="맑은 고딕"/>
              </a:defRPr>
            </a:pPr>
            <a:r>
              <a:t>4) Min-Hold Duration (0.5s):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감정 전환 후 0.5초 유지 보장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 급격한 깜빡임 방지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효과: 79.7% -&gt; 98.8% (운용 정확도)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749039" cy="256032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152144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맑은 고딕"/>
              </a:defRPr>
            </a:pPr>
            <a:r>
              <a:t>Compound Emotion (13 labels)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17320"/>
            <a:ext cx="34747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980B9"/>
                </a:solidFill>
                <a:latin typeface="맑은 고딕"/>
              </a:defRPr>
            </a:pPr>
            <a:r>
              <a:t>K-FER 7-class x Arousal level -&gt; 13 labels: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happy + high arousal -&gt; excited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happy + low arousal -&gt; calm_happy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angry + high arousal -&gt; enraged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sad + high arousal -&gt; distressed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neutral + any -&gt; neutral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  ...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Russell Circumplex Model 기반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이산 감정 + 연속 각성도 결합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840480"/>
            <a:ext cx="3749039" cy="25603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3895344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맑은 고딕"/>
              </a:defRPr>
            </a:pPr>
            <a:r>
              <a:t>Protocol Mapping (7 -&gt; 6 codes)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160520"/>
            <a:ext cx="34747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K-FER 7-class -&gt; Gateway 6 codes: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Code 0: 공포 &lt;- anxious (class 4)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Code 1: 놀람 &lt;- surprised (class 6)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Code 2: 분노 &lt;- angry (class 2)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C62828"/>
                </a:solidFill>
                <a:latin typeface="맑은 고딕"/>
              </a:defRPr>
            </a:pPr>
            <a:r>
              <a:t>  Code 3: 슬픔/혐오 &lt;- sad+hurt (class 3,5)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Code 4: 행복 &lt;- happy (class 1)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Code 5: 중립 &lt;- neutral (class 0)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sad+hurt 병합 근거: 혼동행렬 32.7% confusion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97280"/>
            <a:ext cx="3749039" cy="53035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152144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2828"/>
                </a:solidFill>
                <a:latin typeface="맑은 고딕"/>
              </a:defRPr>
            </a:pPr>
            <a:r>
              <a:t>Status Flag Detector (4 Flags)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47471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C62828"/>
                </a:solidFill>
                <a:latin typeface="맑은 고딕"/>
              </a:defRPr>
            </a:pPr>
            <a:r>
              <a:t>Flag 1 - Stress: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arousal &gt; 0.6 AND 부정감정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(angry, anxious, sad, hurt)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7AE60"/>
                </a:solidFill>
                <a:latin typeface="맑은 고딕"/>
              </a:defRPr>
            </a:pPr>
            <a:r>
              <a:t>  정확도: 95.0%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C62828"/>
                </a:solidFill>
                <a:latin typeface="맑은 고딕"/>
              </a:defRPr>
            </a:pPr>
            <a:r>
              <a:t>Flag 2 - Low Attention: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PERCLOS in [0.2, 0.4)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눈 감은 비율 중간 -&gt; 주의분산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7AE60"/>
                </a:solidFill>
                <a:latin typeface="맑은 고딕"/>
              </a:defRPr>
            </a:pPr>
            <a:r>
              <a:t>  정확도: 95.0%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C62828"/>
                </a:solidFill>
                <a:latin typeface="맑은 고딕"/>
              </a:defRPr>
            </a:pPr>
            <a:r>
              <a:t>Flag 3 - Drowsy: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PERCLOS &gt;= 0.4 (NHTSA 기준)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졸음 경고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7AE60"/>
                </a:solidFill>
                <a:latin typeface="맑은 고딕"/>
              </a:defRPr>
            </a:pPr>
            <a:r>
              <a:t>  정확도: 96.0%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C62828"/>
                </a:solidFill>
                <a:latin typeface="맑은 고딕"/>
              </a:defRPr>
            </a:pPr>
            <a:r>
              <a:t>Flag 4 - Negative Emotion: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K-FER in {angry, anxious, sad, hurt}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  이진 부정감정 판별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7AE60"/>
                </a:solidFill>
                <a:latin typeface="맑은 고딕"/>
              </a:defRPr>
            </a:pPr>
            <a:r>
              <a:t>  정확도: 99.8%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8. Gateway Packet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8-Byte USB Packet -&gt; Vehicle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9/11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88720" cy="14630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0xAA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SOF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1188720"/>
            <a:ext cx="1188720" cy="14630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0x01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1188720" cy="14630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0~255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SEQ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188720"/>
            <a:ext cx="1188720" cy="14630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0x02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LEN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188720"/>
            <a:ext cx="1188720" cy="1463040"/>
          </a:xfrm>
          <a:prstGeom prst="roundRect">
            <a:avLst/>
          </a:prstGeom>
          <a:solidFill>
            <a:srgbClr val="EF9A9A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Payload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EmoCode(4b)</a:t>
            </a:r>
            <a:br/>
            <a:r>
              <a:t>+Flags(4b)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188720"/>
            <a:ext cx="1188720" cy="1463040"/>
          </a:xfrm>
          <a:prstGeom prst="roundRect">
            <a:avLst/>
          </a:prstGeom>
          <a:solidFill>
            <a:srgbClr val="EF9A9A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Intensity(6b)</a:t>
            </a:r>
            <a:br/>
            <a:r>
              <a:t>+NegEmo(1b)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1188720"/>
            <a:ext cx="1188720" cy="14630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CRC8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B1~B5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87000" y="1188720"/>
            <a:ext cx="1188720" cy="14630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1234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맑은 고딕"/>
              </a:defRPr>
            </a:pPr>
            <a:r>
              <a:t>Byte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0xFE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187451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맑은 고딕"/>
              </a:defRPr>
            </a:pPr>
            <a:r>
              <a:t>EOF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2926080"/>
            <a:ext cx="5669280" cy="347472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2980944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맑은 고딕"/>
              </a:defRPr>
            </a:pPr>
            <a:r>
              <a:t>Byte 4: Emotion Code (4 bits) + Status Flags (4 bits)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24612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565C0"/>
                </a:solidFill>
                <a:latin typeface="맑은 고딕"/>
              </a:defRPr>
            </a:pPr>
            <a:r>
              <a:t>Upper 4 bits - Emotion Code: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Bit[7:4] = 0~5 (6 emotion codes)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0=Fear, 1=Surprise, 2=Anger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3=Sad/Disgust, 4=Happy, 5=Neutral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565C0"/>
                </a:solidFill>
                <a:latin typeface="맑은 고딕"/>
              </a:defRPr>
            </a:pPr>
            <a:r>
              <a:t>Lower 4 bits - Status Flags: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Bit[3] = Stress flag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Bit[2] = Low Attention flag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Bit[1] = Drowsy flag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  Bit[0] = END marker (reserved)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Example: happy + drowsy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Emotion=4 (0100), Flags=0010 (drowsy)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27AE60"/>
                </a:solidFill>
                <a:latin typeface="맑은 고딕"/>
              </a:defRPr>
            </a:pPr>
            <a:r>
              <a:t>  -&gt; Byte 4 = 0100_0010 = 0x42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926080"/>
            <a:ext cx="5486400" cy="3474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2980944"/>
            <a:ext cx="5266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맑은 고딕"/>
              </a:defRPr>
            </a:pPr>
            <a:r>
              <a:t>Byte 5: Intensity (6 bits) + NegEmo (1 bit)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24612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565C0"/>
                </a:solidFill>
                <a:latin typeface="맑은 고딕"/>
              </a:defRPr>
            </a:pPr>
            <a:r>
              <a:t>Bits [7:5] - Emotion Intensity (3 bits):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K-FER softmax max prob -&gt; 0~7 quantize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intensity = min(7, int(prob * 8))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565C0"/>
                </a:solidFill>
                <a:latin typeface="맑은 고딕"/>
              </a:defRPr>
            </a:pPr>
            <a:r>
              <a:t>Bits [4:2] - State Intensity (3 bits):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Arousal level -&gt; 0~7 quantize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state_intensity = min(7, int(arousal * 8))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C62828"/>
                </a:solidFill>
                <a:latin typeface="맑은 고딕"/>
              </a:defRPr>
            </a:pPr>
            <a:r>
              <a:t>Bit [1] - Negative Emotion Flag: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K-FER in {angry, anxious, sad, hurt} -&gt; 1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  NegativeEmotionDetector class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Bit [0] - Reserved: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  Future use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565C0"/>
                </a:solidFill>
                <a:latin typeface="맑은 고딕"/>
              </a:defRPr>
            </a:pPr>
            <a:r>
              <a:t>CRC8: XOR-shift over Byte 1~5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9. Knowledge Distillation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맑은 고딕"/>
              </a:defRPr>
            </a:pPr>
            <a:r>
              <a:t>Teacher (144K) -&gt; Student (12K): 파라미터 12x 축소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10/11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657600" cy="27432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52144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맑은 고딕"/>
              </a:defRPr>
            </a:pPr>
            <a:r>
              <a:t>Teacher Model (~144K)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565C0"/>
                </a:solidFill>
                <a:latin typeface="맑은 고딕"/>
              </a:defRPr>
            </a:pPr>
            <a:r>
              <a:t>15 Tokens x 64d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Pool-FFN (3 modalities)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Global MHSA (4 heads)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3 Output Heads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600" b="1">
                <a:solidFill>
                  <a:srgbClr val="27AE60"/>
                </a:solidFill>
                <a:latin typeface="맑은 고딕"/>
              </a:defRPr>
            </a:pPr>
            <a:r>
              <a:t>Arousal UAR: 60.02%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2194560"/>
            <a:ext cx="731520" cy="36576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7373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맑은 고딕"/>
              </a:defRPr>
            </a:pPr>
            <a:r>
              <a:t>KD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097280"/>
            <a:ext cx="365760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152144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맑은 고딕"/>
              </a:defRPr>
            </a:pPr>
            <a:r>
              <a:t>Student Model (~12K)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4173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Face MLP: 12d -&gt; 64d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Bio MLP: 18d -&gt; 64d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Audio MLP: 15d -&gt; 64d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Concat(192d) -&gt; FFN -&gt; Heads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600" b="1">
                <a:solidFill>
                  <a:srgbClr val="27AE60"/>
                </a:solidFill>
                <a:latin typeface="맑은 고딕"/>
              </a:defRPr>
            </a:pPr>
            <a:r>
              <a:t>Arousal UAR: 59.18%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097280"/>
            <a:ext cx="3017520" cy="27432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1152144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맑은 고딕"/>
              </a:defRPr>
            </a:pPr>
            <a:r>
              <a:t>KD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41732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C3E50"/>
                </a:solidFill>
                <a:latin typeface="맑은 고딕"/>
              </a:defRPr>
            </a:pPr>
            <a:r>
              <a:t>L_KD = a*L_task + b*L_repr + c*L_logit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L_task: MSE + CrossEntropy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  Student 자체 task loss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L_repr: CosineEmbeddingLoss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  Teacher-Student repr 거리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C3E50"/>
                </a:solidFill>
                <a:latin typeface="맑은 고딕"/>
              </a:defRPr>
            </a:pPr>
            <a:r>
              <a:t>L_logit: SmoothL1Loss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  Teacher-Student output 매칭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023360"/>
            <a:ext cx="11612880" cy="2560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078224"/>
            <a:ext cx="11393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맑은 고딕"/>
              </a:defRPr>
            </a:pPr>
            <a:r>
              <a:t>10 Recognition Items - Combined Accuracy: 98.0%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43400"/>
            <a:ext cx="11338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565C0"/>
                </a:solidFill>
                <a:latin typeface="맑은 고딕"/>
              </a:defRPr>
            </a:pPr>
            <a:r>
              <a:t>Emotion (6):  공포 97.9% | 놀람 99.4% | 분노 100% | 슬픔/혐오 95.7% | 행복 100% | 중립 100%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8E24AA"/>
                </a:solidFill>
                <a:latin typeface="맑은 고딕"/>
              </a:defRPr>
            </a:pPr>
            <a:r>
              <a:t>Status (4):   스트레스 95.0% | 주의분산 95.0% | 졸음 96.0% | 부정감정 99.8%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600" b="1">
                <a:solidFill>
                  <a:srgbClr val="27AE60"/>
                </a:solidFill>
                <a:latin typeface="맑은 고딕"/>
              </a:defRPr>
            </a:pPr>
            <a:r>
              <a:t>Macro Average: 98.0%  (6 Emotion avg: 98.8% + 4 Status avg: 96.4%)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Ablation: LGBM 56.47% -&gt; 3-Expert 57.83% -&gt; 5-Expert 59.14% -&gt; Full KMERFusion 60.02%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KD Student: 59.18% Arousal UAR (Teacher fidelity 98.6%)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11/11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Technical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011680" cy="2011680"/>
          </a:xfrm>
          <a:prstGeom prst="roundRect">
            <a:avLst/>
          </a:prstGeom>
          <a:solidFill>
            <a:srgbClr val="234E74"/>
          </a:solidFill>
          <a:ln w="254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Single-Forward</a:t>
            </a:r>
            <a:br/>
            <a:r>
              <a:t>AU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Feature map level</a:t>
            </a:r>
            <a:br/>
            <a:r>
              <a:t>grid_sample</a:t>
            </a:r>
            <a:br/>
            <a:r>
              <a:t>8x compute savings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2011680" cy="2011680"/>
          </a:xfrm>
          <a:prstGeom prst="roundRect">
            <a:avLst/>
          </a:prstGeom>
          <a:solidFill>
            <a:srgbClr val="234E74"/>
          </a:solidFill>
          <a:ln w="2540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Gated Residual</a:t>
            </a:r>
            <a:br/>
            <a:r>
              <a:t>Cross-Attention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Per-dim learnable gate</a:t>
            </a:r>
            <a:br/>
            <a:r>
              <a:t>init=0.0</a:t>
            </a:r>
            <a:br/>
            <a:r>
              <a:t>Global-Local balance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188720"/>
            <a:ext cx="2011680" cy="2011680"/>
          </a:xfrm>
          <a:prstGeom prst="roundRect">
            <a:avLst/>
          </a:prstGeom>
          <a:solidFill>
            <a:srgbClr val="234E74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15-Token</a:t>
            </a:r>
            <a:br/>
            <a:r>
              <a:t>Pool-FFN + MHSA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Intra-modal pooling</a:t>
            </a:r>
            <a:br/>
            <a:r>
              <a:t>Cross-modal attention</a:t>
            </a:r>
            <a:br/>
            <a:r>
              <a:t>Validity masking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188720"/>
            <a:ext cx="2011680" cy="2011680"/>
          </a:xfrm>
          <a:prstGeom prst="roundRect">
            <a:avLst/>
          </a:prstGeom>
          <a:solidFill>
            <a:srgbClr val="234E74"/>
          </a:solidFill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Detached</a:t>
            </a:r>
            <a:br/>
            <a:r>
              <a:t>Drowsy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Gradient isolation</a:t>
            </a:r>
            <a:br/>
            <a:r>
              <a:t>Multi-task stability</a:t>
            </a:r>
            <a:br/>
            <a:r>
              <a:t>.detach()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188720"/>
            <a:ext cx="2011680" cy="2011680"/>
          </a:xfrm>
          <a:prstGeom prst="roundRect">
            <a:avLst/>
          </a:prstGeom>
          <a:solidFill>
            <a:srgbClr val="234E74"/>
          </a:solidFill>
          <a:ln w="254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KD Pipeline</a:t>
            </a:r>
            <a:br/>
            <a:r>
              <a:t>144K -&gt; 12K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맑은 고딕"/>
              </a:defRPr>
            </a:pPr>
            <a:r>
              <a:t>3-component loss</a:t>
            </a:r>
            <a:br/>
            <a:r>
              <a:t>12x compression</a:t>
            </a:r>
            <a:br/>
            <a:r>
              <a:t>98.6% fidelity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System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31920"/>
            <a:ext cx="2286000" cy="1188720"/>
          </a:xfrm>
          <a:prstGeom prst="roundRect">
            <a:avLst/>
          </a:prstGeom>
          <a:solidFill>
            <a:srgbClr val="234E74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맑은 고딕"/>
              </a:defRPr>
            </a:pPr>
            <a:r>
              <a:t>K-FER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79.7% -&gt; 98.8%</a:t>
            </a:r>
            <a:br/>
            <a:r>
              <a:t>(temporal)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931920"/>
            <a:ext cx="2286000" cy="1188720"/>
          </a:xfrm>
          <a:prstGeom prst="roundRect">
            <a:avLst/>
          </a:prstGeom>
          <a:solidFill>
            <a:srgbClr val="234E74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K-MER 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60.02%</a:t>
            </a:r>
            <a:br/>
            <a:r>
              <a:t>Arousal UAR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31920"/>
            <a:ext cx="2286000" cy="1188720"/>
          </a:xfrm>
          <a:prstGeom prst="roundRect">
            <a:avLst/>
          </a:prstGeom>
          <a:solidFill>
            <a:srgbClr val="234E74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맑은 고딕"/>
              </a:defRPr>
            </a:pPr>
            <a:r>
              <a:t>KD Student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59.18%</a:t>
            </a:r>
            <a:br/>
            <a:r>
              <a:t>12K params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931920"/>
            <a:ext cx="2286000" cy="1188720"/>
          </a:xfrm>
          <a:prstGeom prst="roundRect">
            <a:avLst/>
          </a:prstGeom>
          <a:solidFill>
            <a:srgbClr val="234E74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Combined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98.0%</a:t>
            </a:r>
            <a:br/>
            <a:r>
              <a:t>10 items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5394960"/>
            <a:ext cx="9418320" cy="914400"/>
          </a:xfrm>
          <a:prstGeom prst="roundRect">
            <a:avLst/>
          </a:prstGeom>
          <a:solidFill>
            <a:srgbClr val="234E74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4406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맑은 고딕"/>
              </a:defRPr>
            </a:pPr>
            <a:r>
              <a:t>Sensor -&gt; Expert (Frozen) -&gt; K-MER Fusion (144K) -&gt; Post-Processing -&gt; 8-Byte Packet -&gt; Vehicle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경량 모델 (144K) + 높은 정확도 (98.0%) + 실시간 Edge 배포 + 차량 프로토콜 직접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